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9.jpg" ContentType="image/png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591" r:id="rId2"/>
    <p:sldId id="585" r:id="rId3"/>
    <p:sldId id="593" r:id="rId4"/>
    <p:sldId id="588" r:id="rId5"/>
    <p:sldId id="592" r:id="rId6"/>
    <p:sldId id="59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37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85EBB-87EA-4D71-B42A-F8824E4BC9F1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8FA52-8678-4B29-B2EF-9FB97E0A4C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99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C0C2-D9AE-446A-48F9-E042A009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EE55DC-1EDF-AA28-CC90-DC7E4750D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030897-DE14-1637-60AF-A4791C54B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49ED41-3A38-C621-2C70-B2675DCD9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87268-A1B8-9247-BFD2-9EA9C8A6D4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08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9533-65BE-9074-7BD1-2B84DDD6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12AF44-56A8-C218-F8CA-47B2770C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3760BB-6115-3A26-CE53-8F7DABEE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17E2A-50E3-3086-FB63-1DFCCF4A3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87268-A1B8-9247-BFD2-9EA9C8A6D4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17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81BD-ADEF-9543-8BFA-20286CBC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0B3FD7-B4CB-6ABB-D2A0-93AEAC7B2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853527-1E54-1698-A59C-82E5A3C69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5C5CF1-097D-3847-A24C-E36BAA7E6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87268-A1B8-9247-BFD2-9EA9C8A6D4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5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9533-65BE-9074-7BD1-2B84DDD6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12AF44-56A8-C218-F8CA-47B2770C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3760BB-6115-3A26-CE53-8F7DABEE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17E2A-50E3-3086-FB63-1DFCCF4A3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87268-A1B8-9247-BFD2-9EA9C8A6D4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888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D488-C007-A8A4-D51C-AE9456B6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2FE19B-B5ED-5312-31DD-C9BF62694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845F5C-CDCF-C159-EEF8-4E23EDDF9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D5E63-2B7B-96A3-11BF-E9D6E848C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87268-A1B8-9247-BFD2-9EA9C8A6D4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2891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9533-65BE-9074-7BD1-2B84DDD6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12AF44-56A8-C218-F8CA-47B2770C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3760BB-6115-3A26-CE53-8F7DABEE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17E2A-50E3-3086-FB63-1DFCCF4A3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87268-A1B8-9247-BFD2-9EA9C8A6D4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587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BE1C-1E61-4C24-B9DA-4083A481E3D8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18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EA32-C197-4294-A842-20BDF0C8A24F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40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8012-CFC7-4535-955E-3BD230FBC85C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00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F12D-40C5-48CD-89B7-44A9435DE00F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0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55D79-E3C8-45DE-BEE7-3B95AE080292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19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C88EE-2238-4D57-BE5E-339D76B5388D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8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FC984-A0FE-457B-991A-C2556946000A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38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CA03-C294-43F0-97B2-205B8E1B9088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09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9FC3-6AFA-44C6-99A3-D5CA2C4292F2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78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7469-24C7-4C5A-BB71-1DA11A275E92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243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D23-1158-4C3C-B1BC-0E912B8627A6}" type="datetime1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F76C7-5C95-4F4E-8662-BC386D37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15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595E7-2103-438E-9BE9-D14E33665652}" type="datetime1">
              <a:rPr lang="zh-CN" altLang="en-US" smtClean="0"/>
              <a:t>2025/12/20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FBF76C7-5C95-4F4E-8662-BC386D373D3E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80" y="120598"/>
            <a:ext cx="2188619" cy="61659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866359"/>
            <a:ext cx="12192000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094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3A2DF-8F8F-A901-2000-6E127808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3">
            <a:extLst>
              <a:ext uri="{FF2B5EF4-FFF2-40B4-BE49-F238E27FC236}">
                <a16:creationId xmlns:a16="http://schemas.microsoft.com/office/drawing/2014/main" id="{4BD3E1B4-43CB-101B-9DF1-E6F31B449D23}"/>
              </a:ext>
            </a:extLst>
          </p:cNvPr>
          <p:cNvSpPr txBox="1"/>
          <p:nvPr/>
        </p:nvSpPr>
        <p:spPr>
          <a:xfrm>
            <a:off x="234175" y="163703"/>
            <a:ext cx="9558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4x16x16 Systolic Array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文本框 24">
            <a:extLst>
              <a:ext uri="{FF2B5EF4-FFF2-40B4-BE49-F238E27FC236}">
                <a16:creationId xmlns:a16="http://schemas.microsoft.com/office/drawing/2014/main" id="{3B7AE0DE-0763-3C5A-E4DE-CC7A66BCCF4C}"/>
              </a:ext>
            </a:extLst>
          </p:cNvPr>
          <p:cNvSpPr txBox="1"/>
          <p:nvPr/>
        </p:nvSpPr>
        <p:spPr>
          <a:xfrm>
            <a:off x="234175" y="1008088"/>
            <a:ext cx="11387982" cy="316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16x16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systolic 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组成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Weight Stationary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四个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共享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采用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background + foreground weight buffer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的模式，在计算的同时输入下一次需要用到的权重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为保证计算效率最高，权重由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background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切换至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foreground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的过程与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输入过程同步，沿对角线方向传播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" name="图片 2" descr="表格">
            <a:extLst>
              <a:ext uri="{FF2B5EF4-FFF2-40B4-BE49-F238E27FC236}">
                <a16:creationId xmlns:a16="http://schemas.microsoft.com/office/drawing/2014/main" id="{6B0D791B-362C-79E8-8074-F6D1A9E6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31" y="4236115"/>
            <a:ext cx="10464235" cy="252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5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24F5-1BAD-9BC4-420A-4004D162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122582-E6CD-8804-7057-8EC9771CE6A3}"/>
              </a:ext>
            </a:extLst>
          </p:cNvPr>
          <p:cNvSpPr/>
          <p:nvPr/>
        </p:nvSpPr>
        <p:spPr>
          <a:xfrm>
            <a:off x="4350446" y="3072511"/>
            <a:ext cx="4752300" cy="9800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solidFill>
                  <a:schemeClr val="tx1"/>
                </a:solidFill>
              </a:rPr>
              <a:t>Systolic Array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1F3B8D5-B3CF-4576-54B6-05BB6653CACA}"/>
              </a:ext>
            </a:extLst>
          </p:cNvPr>
          <p:cNvCxnSpPr>
            <a:cxnSpLocks/>
          </p:cNvCxnSpPr>
          <p:nvPr/>
        </p:nvCxnSpPr>
        <p:spPr>
          <a:xfrm flipH="1">
            <a:off x="9102746" y="3394793"/>
            <a:ext cx="1983350" cy="118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41FFDB3-D771-26FA-C883-0A8A692CEADE}"/>
              </a:ext>
            </a:extLst>
          </p:cNvPr>
          <p:cNvCxnSpPr>
            <a:cxnSpLocks/>
          </p:cNvCxnSpPr>
          <p:nvPr/>
        </p:nvCxnSpPr>
        <p:spPr>
          <a:xfrm flipH="1">
            <a:off x="9102746" y="3764125"/>
            <a:ext cx="198335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3B04EA87-0CCB-2637-ECC5-27F3F558A6E4}"/>
              </a:ext>
            </a:extLst>
          </p:cNvPr>
          <p:cNvSpPr txBox="1"/>
          <p:nvPr/>
        </p:nvSpPr>
        <p:spPr>
          <a:xfrm>
            <a:off x="10029085" y="3063838"/>
            <a:ext cx="70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CLK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985F15-BB79-15A2-6E42-999151DB0604}"/>
              </a:ext>
            </a:extLst>
          </p:cNvPr>
          <p:cNvSpPr txBox="1"/>
          <p:nvPr/>
        </p:nvSpPr>
        <p:spPr>
          <a:xfrm>
            <a:off x="10029085" y="3394793"/>
            <a:ext cx="70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RST</a:t>
            </a:r>
            <a:endParaRPr lang="zh-CN" altLang="en-US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3EFC65A-8B64-BAC5-0C1C-D8FE096DD9C9}"/>
              </a:ext>
            </a:extLst>
          </p:cNvPr>
          <p:cNvCxnSpPr>
            <a:cxnSpLocks/>
          </p:cNvCxnSpPr>
          <p:nvPr/>
        </p:nvCxnSpPr>
        <p:spPr>
          <a:xfrm>
            <a:off x="1388304" y="3854956"/>
            <a:ext cx="296214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DB893F5-61FD-6CEB-41FD-054401509CD1}"/>
              </a:ext>
            </a:extLst>
          </p:cNvPr>
          <p:cNvSpPr txBox="1"/>
          <p:nvPr/>
        </p:nvSpPr>
        <p:spPr>
          <a:xfrm>
            <a:off x="2187723" y="3459411"/>
            <a:ext cx="27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sa_valid_in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736296-119E-6807-39AA-21885091D6BD}"/>
              </a:ext>
            </a:extLst>
          </p:cNvPr>
          <p:cNvSpPr txBox="1"/>
          <p:nvPr/>
        </p:nvSpPr>
        <p:spPr>
          <a:xfrm>
            <a:off x="1830062" y="2985983"/>
            <a:ext cx="3123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sa_input</a:t>
            </a:r>
            <a:r>
              <a:rPr lang="en-US" altLang="zh-CN" b="1" dirty="0"/>
              <a:t> [15:0][7:0]</a:t>
            </a:r>
            <a:endParaRPr lang="zh-CN" altLang="en-US" b="1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767851D-3205-F51D-334D-67F62D967F62}"/>
              </a:ext>
            </a:extLst>
          </p:cNvPr>
          <p:cNvCxnSpPr>
            <a:cxnSpLocks/>
          </p:cNvCxnSpPr>
          <p:nvPr/>
        </p:nvCxnSpPr>
        <p:spPr>
          <a:xfrm flipV="1">
            <a:off x="1425868" y="3394793"/>
            <a:ext cx="2924578" cy="118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43DEB2D-EE78-EE0C-A5E6-80DF93D11D44}"/>
              </a:ext>
            </a:extLst>
          </p:cNvPr>
          <p:cNvSpPr txBox="1"/>
          <p:nvPr/>
        </p:nvSpPr>
        <p:spPr>
          <a:xfrm>
            <a:off x="3629926" y="1043039"/>
            <a:ext cx="3046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sa_weight</a:t>
            </a:r>
            <a:r>
              <a:rPr lang="en-US" altLang="zh-CN" b="1" dirty="0"/>
              <a:t> [3:0][15:0][7:0]</a:t>
            </a:r>
            <a:endParaRPr lang="zh-CN" altLang="en-US" b="1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CC2197C-B19F-D58F-DE03-1BF842DE9395}"/>
              </a:ext>
            </a:extLst>
          </p:cNvPr>
          <p:cNvCxnSpPr>
            <a:cxnSpLocks/>
          </p:cNvCxnSpPr>
          <p:nvPr/>
        </p:nvCxnSpPr>
        <p:spPr>
          <a:xfrm>
            <a:off x="5026402" y="1457885"/>
            <a:ext cx="0" cy="16173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8AB8647-4DF0-0E55-292B-F55F5AAF3C31}"/>
              </a:ext>
            </a:extLst>
          </p:cNvPr>
          <p:cNvSpPr txBox="1"/>
          <p:nvPr/>
        </p:nvSpPr>
        <p:spPr>
          <a:xfrm rot="16200000">
            <a:off x="5619247" y="1548116"/>
            <a:ext cx="270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sa_new_weight</a:t>
            </a:r>
            <a:endParaRPr lang="zh-CN" altLang="en-US" b="1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81BB5FB-5429-D3B1-C850-762170DF1DA3}"/>
              </a:ext>
            </a:extLst>
          </p:cNvPr>
          <p:cNvCxnSpPr>
            <a:cxnSpLocks/>
          </p:cNvCxnSpPr>
          <p:nvPr/>
        </p:nvCxnSpPr>
        <p:spPr>
          <a:xfrm>
            <a:off x="7266835" y="1467675"/>
            <a:ext cx="0" cy="15884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2C78FD-878E-C2C9-ECCC-EB68C20669E3}"/>
              </a:ext>
            </a:extLst>
          </p:cNvPr>
          <p:cNvSpPr txBox="1"/>
          <p:nvPr/>
        </p:nvSpPr>
        <p:spPr>
          <a:xfrm rot="16200000">
            <a:off x="6204062" y="1525578"/>
            <a:ext cx="270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sa_switch_in</a:t>
            </a:r>
            <a:endParaRPr lang="zh-CN" altLang="en-US" b="1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288D319-D317-F3B0-E8D7-6F2E9A3744B4}"/>
              </a:ext>
            </a:extLst>
          </p:cNvPr>
          <p:cNvCxnSpPr>
            <a:cxnSpLocks/>
          </p:cNvCxnSpPr>
          <p:nvPr/>
        </p:nvCxnSpPr>
        <p:spPr>
          <a:xfrm>
            <a:off x="7814223" y="1467675"/>
            <a:ext cx="0" cy="15884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7283B5C-D9F8-6E84-974E-6B8D7E07A883}"/>
              </a:ext>
            </a:extLst>
          </p:cNvPr>
          <p:cNvCxnSpPr>
            <a:cxnSpLocks/>
          </p:cNvCxnSpPr>
          <p:nvPr/>
        </p:nvCxnSpPr>
        <p:spPr>
          <a:xfrm>
            <a:off x="7235395" y="4052570"/>
            <a:ext cx="0" cy="211857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7A0968B-21D3-F69F-C344-92A0F79F7DDE}"/>
              </a:ext>
            </a:extLst>
          </p:cNvPr>
          <p:cNvSpPr txBox="1"/>
          <p:nvPr/>
        </p:nvSpPr>
        <p:spPr>
          <a:xfrm rot="16200000">
            <a:off x="5619248" y="5100520"/>
            <a:ext cx="270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sa_valid</a:t>
            </a:r>
            <a:r>
              <a:rPr lang="en-US" altLang="zh-CN" b="1" dirty="0"/>
              <a:t> _out [3:0][15:0]</a:t>
            </a:r>
            <a:endParaRPr lang="zh-CN" altLang="en-US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95D9284-4C35-9944-C780-32B3D2B648EB}"/>
              </a:ext>
            </a:extLst>
          </p:cNvPr>
          <p:cNvCxnSpPr>
            <a:cxnSpLocks/>
          </p:cNvCxnSpPr>
          <p:nvPr/>
        </p:nvCxnSpPr>
        <p:spPr>
          <a:xfrm>
            <a:off x="5931770" y="4052572"/>
            <a:ext cx="0" cy="211857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F088FB4-5182-B92A-8DD9-D4EED02A9610}"/>
              </a:ext>
            </a:extLst>
          </p:cNvPr>
          <p:cNvSpPr txBox="1"/>
          <p:nvPr/>
        </p:nvSpPr>
        <p:spPr>
          <a:xfrm rot="16200000">
            <a:off x="3862169" y="5027815"/>
            <a:ext cx="3452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sa_output</a:t>
            </a:r>
            <a:r>
              <a:rPr lang="en-US" altLang="zh-CN" b="1" dirty="0"/>
              <a:t> [3:0][15:0][15:0]</a:t>
            </a:r>
            <a:endParaRPr lang="zh-CN" altLang="en-US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B328C7D-84DE-D300-439A-E6573099E20F}"/>
              </a:ext>
            </a:extLst>
          </p:cNvPr>
          <p:cNvSpPr txBox="1"/>
          <p:nvPr/>
        </p:nvSpPr>
        <p:spPr>
          <a:xfrm>
            <a:off x="6250079" y="6517800"/>
            <a:ext cx="255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VPU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37B8E75-2E31-E692-8F03-04686DC8060F}"/>
              </a:ext>
            </a:extLst>
          </p:cNvPr>
          <p:cNvSpPr txBox="1"/>
          <p:nvPr/>
        </p:nvSpPr>
        <p:spPr>
          <a:xfrm>
            <a:off x="7141893" y="896485"/>
            <a:ext cx="255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Control Unit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E35EE8A-C357-C73F-0C0C-B3D2AFEA7A58}"/>
              </a:ext>
            </a:extLst>
          </p:cNvPr>
          <p:cNvSpPr txBox="1"/>
          <p:nvPr/>
        </p:nvSpPr>
        <p:spPr>
          <a:xfrm>
            <a:off x="1801816" y="1610143"/>
            <a:ext cx="213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Unified Buffer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24C6886-6E65-302C-F091-A67ADBF57887}"/>
              </a:ext>
            </a:extLst>
          </p:cNvPr>
          <p:cNvSpPr txBox="1"/>
          <p:nvPr/>
        </p:nvSpPr>
        <p:spPr>
          <a:xfrm>
            <a:off x="11086096" y="3360409"/>
            <a:ext cx="1034729" cy="371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System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2220F33-9D74-A4CC-E457-642C4ACA94F4}"/>
              </a:ext>
            </a:extLst>
          </p:cNvPr>
          <p:cNvCxnSpPr>
            <a:cxnSpLocks/>
          </p:cNvCxnSpPr>
          <p:nvPr/>
        </p:nvCxnSpPr>
        <p:spPr>
          <a:xfrm>
            <a:off x="8404505" y="1467675"/>
            <a:ext cx="0" cy="15884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85659A8-5DE5-D0A7-CE43-F62E8A9DFEA7}"/>
              </a:ext>
            </a:extLst>
          </p:cNvPr>
          <p:cNvSpPr txBox="1"/>
          <p:nvPr/>
        </p:nvSpPr>
        <p:spPr>
          <a:xfrm rot="16200000">
            <a:off x="6788877" y="1525578"/>
            <a:ext cx="270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sa_enable</a:t>
            </a:r>
            <a:r>
              <a:rPr lang="en-US" altLang="zh-CN" b="1" dirty="0"/>
              <a:t> [3:0]</a:t>
            </a:r>
            <a:endParaRPr lang="zh-CN" altLang="en-US" b="1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F762E2C-E6DE-6810-F0A0-6645FB0C2903}"/>
              </a:ext>
            </a:extLst>
          </p:cNvPr>
          <p:cNvSpPr txBox="1"/>
          <p:nvPr/>
        </p:nvSpPr>
        <p:spPr>
          <a:xfrm>
            <a:off x="276251" y="3609737"/>
            <a:ext cx="103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Control Unit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3" name="文本框 3">
            <a:extLst>
              <a:ext uri="{FF2B5EF4-FFF2-40B4-BE49-F238E27FC236}">
                <a16:creationId xmlns:a16="http://schemas.microsoft.com/office/drawing/2014/main" id="{9B593E48-B400-6A64-6DE7-3557A1AAD2C7}"/>
              </a:ext>
            </a:extLst>
          </p:cNvPr>
          <p:cNvSpPr txBox="1"/>
          <p:nvPr/>
        </p:nvSpPr>
        <p:spPr>
          <a:xfrm>
            <a:off x="234175" y="163703"/>
            <a:ext cx="9558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4x16x16 Systolic Array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20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D902-256D-FEB1-BFFA-E2755990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3F88BABE-A288-6CB2-A9FC-3413C51A39E1}"/>
              </a:ext>
            </a:extLst>
          </p:cNvPr>
          <p:cNvSpPr txBox="1"/>
          <p:nvPr/>
        </p:nvSpPr>
        <p:spPr>
          <a:xfrm>
            <a:off x="185223" y="1042920"/>
            <a:ext cx="11476690" cy="272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为保证计算效率最高，权重由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background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切换至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foreground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的过程与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输入过程同步，沿对角线方向传播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对应</a:t>
            </a:r>
            <a:r>
              <a:rPr lang="en-US" altLang="zh-CN" sz="2400" b="1" dirty="0" err="1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switch_in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信号沿对角线传播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还未切换到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foreground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的权重需要留在改在的地方，不能继续顺着输入下移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利用</a:t>
            </a:r>
            <a:r>
              <a:rPr lang="en-US" altLang="zh-CN" sz="2400" b="1" dirty="0" err="1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col_new_weight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信号，当某一列的</a:t>
            </a:r>
            <a:r>
              <a:rPr lang="en-US" altLang="zh-CN" sz="2400" b="1" dirty="0" err="1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col_new_weight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时，将该列的权重下移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valid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信号置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（第一行除外），后续权重与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valid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信号一起一行一行向下传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6AA98142-2ABF-235F-2544-DD7729DA4C3F}"/>
              </a:ext>
            </a:extLst>
          </p:cNvPr>
          <p:cNvSpPr txBox="1"/>
          <p:nvPr/>
        </p:nvSpPr>
        <p:spPr>
          <a:xfrm>
            <a:off x="234175" y="163703"/>
            <a:ext cx="9558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Systolic Array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优化处理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E25E655-B566-4B3D-7265-957F01B2ABA2}"/>
              </a:ext>
            </a:extLst>
          </p:cNvPr>
          <p:cNvGrpSpPr/>
          <p:nvPr/>
        </p:nvGrpSpPr>
        <p:grpSpPr>
          <a:xfrm>
            <a:off x="103737" y="3919681"/>
            <a:ext cx="6736664" cy="2774616"/>
            <a:chOff x="2462624" y="3251810"/>
            <a:chExt cx="6736664" cy="2774616"/>
          </a:xfrm>
        </p:grpSpPr>
        <p:pic>
          <p:nvPicPr>
            <p:cNvPr id="5" name="图片 4" descr="图形用户界面, 文本&#10;&#10;AI 生成的内容可能不正确。">
              <a:extLst>
                <a:ext uri="{FF2B5EF4-FFF2-40B4-BE49-F238E27FC236}">
                  <a16:creationId xmlns:a16="http://schemas.microsoft.com/office/drawing/2014/main" id="{F3EC0597-C9CE-D230-BA75-78A531D00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2624" y="3251810"/>
              <a:ext cx="6736664" cy="2461473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77D4CB-7DF6-5A3F-D9A2-7A44DF65A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4446" y="5815080"/>
              <a:ext cx="6633019" cy="211346"/>
            </a:xfrm>
            <a:prstGeom prst="rect">
              <a:avLst/>
            </a:prstGeom>
          </p:spPr>
        </p:pic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ABA2488-092C-B757-6775-A09F541B6C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374" y="3867642"/>
            <a:ext cx="8092063" cy="148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4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24F5-1BAD-9BC4-420A-4004D162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CC44E270-2663-DDD9-D6D3-0DD2CDE0916D}"/>
              </a:ext>
            </a:extLst>
          </p:cNvPr>
          <p:cNvSpPr txBox="1"/>
          <p:nvPr/>
        </p:nvSpPr>
        <p:spPr>
          <a:xfrm>
            <a:off x="185223" y="1042920"/>
            <a:ext cx="11476690" cy="139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使能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Array1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Array2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（两个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的输入权重不同），观测四个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的输出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未使能的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，输出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valid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均为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使能的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，输出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valid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均与预期一致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3BA2D025-7D1E-D296-9BFB-C0D61DF6BE86}"/>
              </a:ext>
            </a:extLst>
          </p:cNvPr>
          <p:cNvSpPr txBox="1"/>
          <p:nvPr/>
        </p:nvSpPr>
        <p:spPr>
          <a:xfrm>
            <a:off x="234175" y="163703"/>
            <a:ext cx="9558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Systolic Array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仿真输出结果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8341AE-DC7F-218F-9ED0-EF06A4B25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7761"/>
            <a:ext cx="12192000" cy="21402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38312E-7827-D0F8-31D0-13D1C2720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4470"/>
            <a:ext cx="12192000" cy="180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8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54236-B0C8-37FD-4A86-7ED1C314D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E149CE5B-2716-049C-EE24-F7A6B3A67B82}"/>
              </a:ext>
            </a:extLst>
          </p:cNvPr>
          <p:cNvSpPr txBox="1"/>
          <p:nvPr/>
        </p:nvSpPr>
        <p:spPr>
          <a:xfrm>
            <a:off x="185223" y="1042920"/>
            <a:ext cx="11476690" cy="139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使能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Array1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Array2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（两个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的输入权重不同），观测四个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的输出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未使能的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，输出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valid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均为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0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使能的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，输出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valid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output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均与预期一致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C12266ED-9CF9-FEDD-1B4F-9F99D101111B}"/>
              </a:ext>
            </a:extLst>
          </p:cNvPr>
          <p:cNvSpPr txBox="1"/>
          <p:nvPr/>
        </p:nvSpPr>
        <p:spPr>
          <a:xfrm>
            <a:off x="234175" y="163703"/>
            <a:ext cx="9558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Systolic Array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仿真输出结果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C4324A-B9AF-D7C9-4980-A4CA557C6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2049"/>
            <a:ext cx="12192000" cy="224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7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24F5-1BAD-9BC4-420A-4004D162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4">
            <a:extLst>
              <a:ext uri="{FF2B5EF4-FFF2-40B4-BE49-F238E27FC236}">
                <a16:creationId xmlns:a16="http://schemas.microsoft.com/office/drawing/2014/main" id="{CC44E270-2663-DDD9-D6D3-0DD2CDE0916D}"/>
              </a:ext>
            </a:extLst>
          </p:cNvPr>
          <p:cNvSpPr txBox="1"/>
          <p:nvPr/>
        </p:nvSpPr>
        <p:spPr>
          <a:xfrm>
            <a:off x="185222" y="1042920"/>
            <a:ext cx="11585864" cy="227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本次设计将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Systolic 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扩展至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个相对独立的部分，具有更高的灵活性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Array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采用相同的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，同时对多个不同的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weight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进行处理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未来扩展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实际应用中，也会有同时对多个</a:t>
            </a:r>
            <a:r>
              <a:rPr lang="en-US" altLang="zh-CN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input</a:t>
            </a:r>
            <a:r>
              <a:rPr lang="zh-CN" altLang="en-US" sz="24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处理的需求，后续可据此进行更多优化</a:t>
            </a:r>
            <a:endParaRPr lang="en-US" altLang="zh-CN" sz="2400" b="1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3BA2D025-7D1E-D296-9BFB-C0D61DF6BE86}"/>
              </a:ext>
            </a:extLst>
          </p:cNvPr>
          <p:cNvSpPr txBox="1"/>
          <p:nvPr/>
        </p:nvSpPr>
        <p:spPr>
          <a:xfrm>
            <a:off x="234175" y="163703"/>
            <a:ext cx="9558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409382"/>
      </p:ext>
    </p:extLst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407</Words>
  <Application>Microsoft Office PowerPoint</Application>
  <PresentationFormat>宽屏</PresentationFormat>
  <Paragraphs>48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Arial</vt:lpstr>
      <vt:lpstr>Calibri</vt:lpstr>
      <vt:lpstr>Times New Roman</vt:lpstr>
      <vt:lpstr>Wingdings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Zhantong Zhu</dc:creator>
  <cp:lastModifiedBy>北歌 Dawn</cp:lastModifiedBy>
  <cp:revision>2</cp:revision>
  <dcterms:created xsi:type="dcterms:W3CDTF">2025-11-24T10:21:55Z</dcterms:created>
  <dcterms:modified xsi:type="dcterms:W3CDTF">2025-12-20T14:16:08Z</dcterms:modified>
</cp:coreProperties>
</file>