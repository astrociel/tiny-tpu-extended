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60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66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7046CD-F911-30F5-989B-0CE9E6340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649A05-B5E5-45CD-1505-CDA915E2D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F01F1B-44C8-6C28-E16A-B990F9A62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DCE30-F6CF-4DEC-9BEE-9A80BB339C49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755258-B13A-719B-0DC9-66F9BF742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02B40D-E69F-16BF-C1CC-63C2A0B07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C4FE3-D62B-4EF6-873E-E9745016A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570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88E95E-051F-5487-008A-31C38314A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E22D31-9F16-EBD6-601D-863E8B066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28D791-9157-CE49-7762-8502F18A2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DCE30-F6CF-4DEC-9BEE-9A80BB339C49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C627B6-51C5-1A64-1659-5EAE9BD51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0ACA13-1765-8B78-A4C1-6FB6DEE52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C4FE3-D62B-4EF6-873E-E9745016A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158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D7D09-BB91-3A2E-D525-5E21ABD5E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D710D2-C234-4774-B126-D3FFBE3F8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04AC3A-4363-D7D4-C6A3-205FFA211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DCE30-F6CF-4DEC-9BEE-9A80BB339C49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1055C7-6361-C9CF-6BA5-D2A28244F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2ECF4E-6663-B227-D794-A674B8FCA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C4FE3-D62B-4EF6-873E-E9745016A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309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9CBCBF-BD06-00BF-E28D-E0328D200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B46A88-CE74-A486-3603-B55910E26A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38CB02-8B04-112E-9609-7D7125B55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837C16-9076-12FB-4515-8083329F1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DCE30-F6CF-4DEC-9BEE-9A80BB339C49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FF8FF5-BB5C-5B4C-76B3-5CD27D7D3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D034E0-75BE-497D-FC5F-FC7D1FFE0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C4FE3-D62B-4EF6-873E-E9745016A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44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05842C-48B5-BBEA-D49C-69AF5D95C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77C760-4F17-8037-286F-E14ECEB0B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9D72F1-F1AE-D767-8836-C1986D53F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478AFF-BD2C-A744-C547-075E74BC4F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E8140A4-DD68-3B23-1341-E849C7B549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3CDEC4A-D0EB-17BA-F4A4-25C4B46E9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DCE30-F6CF-4DEC-9BEE-9A80BB339C49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286ADF1-78E3-C954-8B65-1A4DDB884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61B8679-833E-EA5E-FAB7-E99B2ECDB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C4FE3-D62B-4EF6-873E-E9745016A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232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365208-4094-DB45-EB16-9A72A65BB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12C322-A3EA-9FFB-F595-E7EC0C242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DCE30-F6CF-4DEC-9BEE-9A80BB339C49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2E9625-74A0-A21B-270F-A8110BDAC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7C1F25-3F02-588F-C719-6CA082C05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C4FE3-D62B-4EF6-873E-E9745016A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2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BD6D1E-71CB-C2A2-158D-812510DF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DCE30-F6CF-4DEC-9BEE-9A80BB339C49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380477-5363-CCA3-84FB-240AEBE55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E767BD-5A55-ABB7-C90B-89C682C45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C4FE3-D62B-4EF6-873E-E9745016A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95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99A84C-7D66-8A7E-6631-EAB71A04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B23EF4-FDE5-73F6-5D39-6C3ED6889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1DF135-C6AF-2AEF-E3A2-F55451BEE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A8AAF2-0390-935C-E8A9-967EF474F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DCE30-F6CF-4DEC-9BEE-9A80BB339C49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1F73A2-F666-1883-D2DC-BB8D7B62A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38C37B-8197-FE5B-B74E-98EA8AE0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C4FE3-D62B-4EF6-873E-E9745016A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512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ED7CB2-D676-86A9-A0DF-694B2917A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6C2999F-6FFE-0371-F49D-BAE4E57C5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FEAC78-779E-4DA2-5973-B407055250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01FE95-31CE-2844-C984-14E96ECD2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DCE30-F6CF-4DEC-9BEE-9A80BB339C49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73450D-5DAB-117E-7C02-E37CD766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375A86-A252-F654-6458-1D62925FA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C4FE3-D62B-4EF6-873E-E9745016A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580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023A8E-EA61-FB9C-ED34-59C38DF57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8CE681-FB11-BD64-29A1-9AF03F0CF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38952F-2561-5FA3-CCC4-587FC1F73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DCE30-F6CF-4DEC-9BEE-9A80BB339C49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A1E337-EF07-CEB2-ED40-61BAFC9ED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1728E2-F03C-15B0-EECD-B1BB699D2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C4FE3-D62B-4EF6-873E-E9745016A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345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3231D07-33E4-2994-F63E-D058963D9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5557D6-C3E2-662F-54E0-75A5FDC05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3F61B5-B642-FE7A-9C3F-413115F77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DCE30-F6CF-4DEC-9BEE-9A80BB339C49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56F796-54BF-7DE4-6BF1-9940F31AA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D646B2-93E4-22A8-BEFD-12EF00EE4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C4FE3-D62B-4EF6-873E-E9745016A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045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CFF917E-CB9C-FAFB-7FD1-AE67E005E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F211D2-5C35-7883-0DFD-E3567BCCE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5BAB43-3F1F-C474-CA53-50616A8903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3DCE30-F6CF-4DEC-9BEE-9A80BB339C49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F8DE09-98CC-C7DD-766A-71C61D6D59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F0A64D-FC38-FF18-76C5-3D6339672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3C4FE3-D62B-4EF6-873E-E9745016A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54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63042B7-1CD5-640E-DFE8-956FB66159AF}"/>
              </a:ext>
            </a:extLst>
          </p:cNvPr>
          <p:cNvSpPr/>
          <p:nvPr/>
        </p:nvSpPr>
        <p:spPr>
          <a:xfrm>
            <a:off x="3153895" y="1204605"/>
            <a:ext cx="1697493" cy="108570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VPU Channel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077049ED-3C00-58E6-166E-D66178CECB86}"/>
              </a:ext>
            </a:extLst>
          </p:cNvPr>
          <p:cNvCxnSpPr/>
          <p:nvPr/>
        </p:nvCxnSpPr>
        <p:spPr>
          <a:xfrm>
            <a:off x="3994925" y="366855"/>
            <a:ext cx="0" cy="827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20B10AA9-AD61-520A-3E77-227906E4CF5D}"/>
              </a:ext>
            </a:extLst>
          </p:cNvPr>
          <p:cNvSpPr txBox="1"/>
          <p:nvPr/>
        </p:nvSpPr>
        <p:spPr>
          <a:xfrm>
            <a:off x="3514575" y="-2477"/>
            <a:ext cx="15087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SA0_OUT[</a:t>
            </a:r>
            <a:r>
              <a:rPr lang="en-US" altLang="zh-CN" sz="800" dirty="0">
                <a:solidFill>
                  <a:schemeClr val="accent3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16</a:t>
            </a:r>
            <a:r>
              <a:rPr lang="en-US" altLang="zh-CN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</a:t>
            </a:r>
            <a:r>
              <a:rPr lang="en-US" altLang="zh-CN" sz="800" dirty="0">
                <a:solidFill>
                  <a:schemeClr val="accent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32bit</a:t>
            </a:r>
            <a:r>
              <a:rPr lang="en-US" altLang="zh-CN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</a:p>
          <a:p>
            <a:r>
              <a:rPr lang="en-US" altLang="zh-CN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SA0_OUT_VALID[</a:t>
            </a:r>
            <a:r>
              <a:rPr lang="en-US" altLang="zh-CN" sz="800" dirty="0">
                <a:solidFill>
                  <a:schemeClr val="accent3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16*</a:t>
            </a:r>
            <a:r>
              <a:rPr lang="en-US" altLang="zh-CN" sz="800" dirty="0">
                <a:solidFill>
                  <a:schemeClr val="accent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1bit</a:t>
            </a:r>
            <a:r>
              <a:rPr lang="en-US" altLang="zh-CN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  <a:endParaRPr lang="zh-CN" altLang="en-US" sz="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9947C9D-D496-5C14-52E3-D095F488A502}"/>
              </a:ext>
            </a:extLst>
          </p:cNvPr>
          <p:cNvCxnSpPr>
            <a:cxnSpLocks/>
          </p:cNvCxnSpPr>
          <p:nvPr/>
        </p:nvCxnSpPr>
        <p:spPr>
          <a:xfrm>
            <a:off x="3994925" y="2290310"/>
            <a:ext cx="0" cy="5231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3625915C-591F-AAAF-B037-80C3ADC73551}"/>
              </a:ext>
            </a:extLst>
          </p:cNvPr>
          <p:cNvSpPr txBox="1"/>
          <p:nvPr/>
        </p:nvSpPr>
        <p:spPr>
          <a:xfrm>
            <a:off x="3455723" y="2813486"/>
            <a:ext cx="16305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VPU0_OUT[</a:t>
            </a:r>
            <a:r>
              <a:rPr lang="en-US" altLang="zh-CN" sz="800" dirty="0">
                <a:solidFill>
                  <a:schemeClr val="accent3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16</a:t>
            </a:r>
            <a:r>
              <a:rPr lang="en-US" altLang="zh-CN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</a:t>
            </a:r>
            <a:r>
              <a:rPr lang="en-US" altLang="zh-CN" sz="800" dirty="0">
                <a:solidFill>
                  <a:schemeClr val="accent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8bit</a:t>
            </a:r>
            <a:r>
              <a:rPr lang="en-US" altLang="zh-CN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</a:p>
          <a:p>
            <a:r>
              <a:rPr lang="en-US" altLang="zh-CN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VPU0_OUT_VALID[</a:t>
            </a:r>
            <a:r>
              <a:rPr lang="en-US" altLang="zh-CN" sz="800" dirty="0">
                <a:solidFill>
                  <a:schemeClr val="accent3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16</a:t>
            </a:r>
            <a:r>
              <a:rPr lang="en-US" altLang="zh-CN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</a:t>
            </a:r>
            <a:r>
              <a:rPr lang="en-US" altLang="zh-CN" sz="800" dirty="0">
                <a:solidFill>
                  <a:schemeClr val="accent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1bit</a:t>
            </a:r>
            <a:r>
              <a:rPr lang="en-US" altLang="zh-CN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  <a:endParaRPr lang="zh-CN" altLang="en-US" sz="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182C068E-9560-857B-BBE7-D99C8652F7CF}"/>
              </a:ext>
            </a:extLst>
          </p:cNvPr>
          <p:cNvCxnSpPr>
            <a:cxnSpLocks/>
          </p:cNvCxnSpPr>
          <p:nvPr/>
        </p:nvCxnSpPr>
        <p:spPr>
          <a:xfrm>
            <a:off x="2017774" y="1476494"/>
            <a:ext cx="11361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76836ACF-9BD4-BDF0-D92A-FD7197FD7916}"/>
              </a:ext>
            </a:extLst>
          </p:cNvPr>
          <p:cNvCxnSpPr>
            <a:cxnSpLocks/>
          </p:cNvCxnSpPr>
          <p:nvPr/>
        </p:nvCxnSpPr>
        <p:spPr>
          <a:xfrm>
            <a:off x="2017775" y="1707452"/>
            <a:ext cx="11361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DC718367-F947-E258-A1EE-E51009116E0C}"/>
              </a:ext>
            </a:extLst>
          </p:cNvPr>
          <p:cNvCxnSpPr>
            <a:cxnSpLocks/>
          </p:cNvCxnSpPr>
          <p:nvPr/>
        </p:nvCxnSpPr>
        <p:spPr>
          <a:xfrm>
            <a:off x="2017775" y="1860582"/>
            <a:ext cx="11361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FC6D2B1E-98EA-11EB-7320-4EFB05209FDD}"/>
              </a:ext>
            </a:extLst>
          </p:cNvPr>
          <p:cNvSpPr txBox="1"/>
          <p:nvPr/>
        </p:nvSpPr>
        <p:spPr>
          <a:xfrm>
            <a:off x="52058" y="1359483"/>
            <a:ext cx="14048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BIAS_IN[</a:t>
            </a:r>
            <a:r>
              <a:rPr lang="en-US" altLang="zh-CN" sz="800" dirty="0">
                <a:solidFill>
                  <a:schemeClr val="accent3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16</a:t>
            </a:r>
            <a:r>
              <a:rPr lang="en-US" altLang="zh-CN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</a:t>
            </a:r>
            <a:r>
              <a:rPr lang="en-US" altLang="zh-CN" sz="800" dirty="0">
                <a:solidFill>
                  <a:schemeClr val="accent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32bit</a:t>
            </a:r>
            <a:r>
              <a:rPr lang="en-US" altLang="zh-CN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  <a:endParaRPr lang="zh-CN" altLang="en-US" sz="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873259D-2684-BD94-C006-50B966DF6F2D}"/>
              </a:ext>
            </a:extLst>
          </p:cNvPr>
          <p:cNvSpPr txBox="1"/>
          <p:nvPr/>
        </p:nvSpPr>
        <p:spPr>
          <a:xfrm>
            <a:off x="45692" y="1735455"/>
            <a:ext cx="2124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DEQUANT_SCALE_IN[</a:t>
            </a:r>
            <a:r>
              <a:rPr lang="en-US" altLang="zh-CN" sz="800" dirty="0">
                <a:solidFill>
                  <a:schemeClr val="accent3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16</a:t>
            </a:r>
            <a:r>
              <a:rPr lang="en-US" altLang="zh-CN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</a:t>
            </a:r>
            <a:r>
              <a:rPr lang="en-US" altLang="zh-CN" sz="800" dirty="0">
                <a:solidFill>
                  <a:schemeClr val="accent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32bit</a:t>
            </a:r>
            <a:r>
              <a:rPr lang="en-US" altLang="zh-CN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 </a:t>
            </a:r>
            <a:r>
              <a:rPr lang="en-US" altLang="zh-CN" sz="80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FP32</a:t>
            </a:r>
            <a:endParaRPr lang="zh-CN" altLang="en-US" sz="800" dirty="0">
              <a:solidFill>
                <a:srgbClr val="C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655A71E0-8BD4-18B9-54E5-007EFFC59E0C}"/>
              </a:ext>
            </a:extLst>
          </p:cNvPr>
          <p:cNvCxnSpPr>
            <a:cxnSpLocks/>
          </p:cNvCxnSpPr>
          <p:nvPr/>
        </p:nvCxnSpPr>
        <p:spPr>
          <a:xfrm>
            <a:off x="2017775" y="2160899"/>
            <a:ext cx="11361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87357868-CB55-43E3-E6F6-A9F1976250AA}"/>
              </a:ext>
            </a:extLst>
          </p:cNvPr>
          <p:cNvSpPr txBox="1"/>
          <p:nvPr/>
        </p:nvSpPr>
        <p:spPr>
          <a:xfrm>
            <a:off x="52058" y="2053177"/>
            <a:ext cx="15633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MODE_SELECT[</a:t>
            </a:r>
            <a:r>
              <a:rPr lang="en-US" altLang="zh-CN" sz="800" dirty="0">
                <a:solidFill>
                  <a:schemeClr val="accent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2bit</a:t>
            </a:r>
            <a:r>
              <a:rPr lang="en-US" altLang="zh-CN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  <a:endParaRPr lang="zh-CN" altLang="en-US" sz="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150D07F7-8CEA-3BEA-10D5-53FC4A382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302665"/>
              </p:ext>
            </p:extLst>
          </p:nvPr>
        </p:nvGraphicFramePr>
        <p:xfrm>
          <a:off x="6943154" y="114677"/>
          <a:ext cx="3974542" cy="166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471">
                  <a:extLst>
                    <a:ext uri="{9D8B030D-6E8A-4147-A177-3AD203B41FA5}">
                      <a16:colId xmlns:a16="http://schemas.microsoft.com/office/drawing/2014/main" val="2420712468"/>
                    </a:ext>
                  </a:extLst>
                </a:gridCol>
                <a:gridCol w="3324071">
                  <a:extLst>
                    <a:ext uri="{9D8B030D-6E8A-4147-A177-3AD203B41FA5}">
                      <a16:colId xmlns:a16="http://schemas.microsoft.com/office/drawing/2014/main" val="1848094457"/>
                    </a:ext>
                  </a:extLst>
                </a:gridCol>
              </a:tblGrid>
              <a:tr h="328236">
                <a:tc gridSpan="2">
                  <a:txBody>
                    <a:bodyPr/>
                    <a:lstStyle/>
                    <a:p>
                      <a:r>
                        <a:rPr lang="en-US" altLang="zh-CN" sz="1000" dirty="0"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MODE_SELECT</a:t>
                      </a:r>
                      <a:endParaRPr lang="zh-CN" altLang="en-US" sz="10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87812"/>
                  </a:ext>
                </a:extLst>
              </a:tr>
              <a:tr h="328236"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1</a:t>
                      </a:r>
                      <a:endParaRPr lang="zh-CN" altLang="en-US" sz="10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Accu</a:t>
                      </a:r>
                      <a:r>
                        <a:rPr lang="zh-CN" altLang="en-US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模式</a:t>
                      </a:r>
                      <a:r>
                        <a:rPr lang="en-US" altLang="zh-CN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,</a:t>
                      </a:r>
                      <a:r>
                        <a:rPr lang="zh-CN" altLang="en-US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逐次将有效的</a:t>
                      </a:r>
                      <a:r>
                        <a:rPr lang="en-US" altLang="zh-CN" sz="800" dirty="0" err="1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sa</a:t>
                      </a:r>
                      <a:r>
                        <a:rPr lang="zh-CN" altLang="en-US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输出累加到对应缓冲区行中。默认</a:t>
                      </a:r>
                      <a:r>
                        <a:rPr lang="en-US" altLang="zh-CN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batch size</a:t>
                      </a:r>
                      <a:r>
                        <a:rPr lang="zh-CN" altLang="en-US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有</a:t>
                      </a:r>
                      <a:r>
                        <a:rPr lang="en-US" altLang="zh-CN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16</a:t>
                      </a:r>
                      <a:r>
                        <a:rPr lang="zh-CN" altLang="en-US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387727"/>
                  </a:ext>
                </a:extLst>
              </a:tr>
              <a:tr h="328236"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2</a:t>
                      </a:r>
                      <a:endParaRPr lang="zh-CN" altLang="en-US" sz="10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Load</a:t>
                      </a:r>
                      <a:r>
                        <a:rPr lang="zh-CN" altLang="en-US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模式</a:t>
                      </a:r>
                      <a:r>
                        <a:rPr lang="en-US" altLang="zh-CN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,</a:t>
                      </a:r>
                      <a:r>
                        <a:rPr lang="zh-CN" altLang="en-US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逐次将</a:t>
                      </a:r>
                      <a:r>
                        <a:rPr lang="en-US" altLang="zh-CN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PSUM_LOAD_IN</a:t>
                      </a:r>
                      <a:r>
                        <a:rPr lang="zh-CN" altLang="en-US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的</a:t>
                      </a:r>
                      <a:r>
                        <a:rPr lang="en-US" altLang="zh-CN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BATCH_SIZE</a:t>
                      </a:r>
                      <a:r>
                        <a:rPr lang="zh-CN" altLang="en-US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拍数据加载到对应的缓冲区行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938113"/>
                  </a:ext>
                </a:extLst>
              </a:tr>
              <a:tr h="328236"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endParaRPr lang="zh-CN" altLang="en-US" sz="10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Output</a:t>
                      </a:r>
                      <a:r>
                        <a:rPr lang="zh-CN" altLang="en-US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模式</a:t>
                      </a:r>
                      <a:r>
                        <a:rPr lang="en-US" altLang="zh-CN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, </a:t>
                      </a:r>
                      <a:r>
                        <a:rPr lang="zh-CN" altLang="en-US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逐次将</a:t>
                      </a:r>
                      <a:r>
                        <a:rPr lang="en-US" altLang="zh-CN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PSUM buffer</a:t>
                      </a:r>
                      <a:r>
                        <a:rPr lang="zh-CN" altLang="en-US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中的数据送出</a:t>
                      </a:r>
                      <a:r>
                        <a:rPr lang="en-US" altLang="zh-CN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,</a:t>
                      </a:r>
                      <a:r>
                        <a:rPr lang="zh-CN" altLang="en-US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经过</a:t>
                      </a:r>
                      <a:r>
                        <a:rPr lang="en-US" altLang="zh-CN" sz="800" dirty="0" err="1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relu</a:t>
                      </a:r>
                      <a:r>
                        <a:rPr lang="zh-CN" altLang="en-US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和</a:t>
                      </a:r>
                      <a:r>
                        <a:rPr lang="en-US" altLang="zh-CN" sz="800" dirty="0" err="1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dequant</a:t>
                      </a:r>
                      <a:r>
                        <a:rPr lang="zh-CN" altLang="en-US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模块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436936"/>
                  </a:ext>
                </a:extLst>
              </a:tr>
              <a:tr h="328236"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0</a:t>
                      </a:r>
                      <a:endParaRPr lang="zh-CN" altLang="en-US" sz="10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invalid</a:t>
                      </a:r>
                      <a:endParaRPr lang="zh-CN" altLang="en-US" sz="8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767755"/>
                  </a:ext>
                </a:extLst>
              </a:tr>
            </a:tbl>
          </a:graphicData>
        </a:graphic>
      </p:graphicFrame>
      <p:sp>
        <p:nvSpPr>
          <p:cNvPr id="48" name="文本框 47">
            <a:extLst>
              <a:ext uri="{FF2B5EF4-FFF2-40B4-BE49-F238E27FC236}">
                <a16:creationId xmlns:a16="http://schemas.microsoft.com/office/drawing/2014/main" id="{6CE471AF-8DD9-9F11-3B7F-07E9DE23DFC6}"/>
              </a:ext>
            </a:extLst>
          </p:cNvPr>
          <p:cNvSpPr txBox="1"/>
          <p:nvPr/>
        </p:nvSpPr>
        <p:spPr>
          <a:xfrm>
            <a:off x="52058" y="1532013"/>
            <a:ext cx="1739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PSUM_LOAD_IN[</a:t>
            </a:r>
            <a:r>
              <a:rPr lang="en-US" altLang="zh-CN" sz="800" dirty="0">
                <a:solidFill>
                  <a:schemeClr val="accent3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16</a:t>
            </a:r>
            <a:r>
              <a:rPr lang="en-US" altLang="zh-CN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*</a:t>
            </a:r>
            <a:r>
              <a:rPr lang="en-US" altLang="zh-CN" sz="800" dirty="0">
                <a:solidFill>
                  <a:schemeClr val="accent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32bit</a:t>
            </a:r>
            <a:r>
              <a:rPr lang="en-US" altLang="zh-CN" sz="800" dirty="0"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endParaRPr lang="zh-CN" altLang="en-US" sz="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7836AD8-A09F-772F-C050-36DC9B008709}"/>
              </a:ext>
            </a:extLst>
          </p:cNvPr>
          <p:cNvSpPr/>
          <p:nvPr/>
        </p:nvSpPr>
        <p:spPr>
          <a:xfrm>
            <a:off x="6648252" y="2036998"/>
            <a:ext cx="4299354" cy="12740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FA86EF6-0211-F2E5-9F47-85C7DDF6B60B}"/>
              </a:ext>
            </a:extLst>
          </p:cNvPr>
          <p:cNvSpPr txBox="1"/>
          <p:nvPr/>
        </p:nvSpPr>
        <p:spPr>
          <a:xfrm>
            <a:off x="6648252" y="2052206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VPU</a:t>
            </a:r>
            <a:endParaRPr lang="zh-CN" altLang="en-US" sz="12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60EE28C-A2E8-5E5A-77ED-3190EEC9BD81}"/>
              </a:ext>
            </a:extLst>
          </p:cNvPr>
          <p:cNvSpPr/>
          <p:nvPr/>
        </p:nvSpPr>
        <p:spPr>
          <a:xfrm>
            <a:off x="6715309" y="2455688"/>
            <a:ext cx="963167" cy="4408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VPU Ch0</a:t>
            </a:r>
            <a:endParaRPr lang="zh-CN" altLang="en-US" sz="1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FCAA649-7024-2EB4-DD17-174CB7E9B08D}"/>
              </a:ext>
            </a:extLst>
          </p:cNvPr>
          <p:cNvSpPr/>
          <p:nvPr/>
        </p:nvSpPr>
        <p:spPr>
          <a:xfrm>
            <a:off x="7763821" y="2455688"/>
            <a:ext cx="963167" cy="4408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VPU Ch1</a:t>
            </a:r>
            <a:endParaRPr lang="zh-CN" altLang="en-US" sz="1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1EB5A49-0BBD-9336-F44B-85C4603967EB}"/>
              </a:ext>
            </a:extLst>
          </p:cNvPr>
          <p:cNvSpPr/>
          <p:nvPr/>
        </p:nvSpPr>
        <p:spPr>
          <a:xfrm>
            <a:off x="8812332" y="2455688"/>
            <a:ext cx="963167" cy="4408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VPU Ch2</a:t>
            </a:r>
            <a:endParaRPr lang="zh-CN" altLang="en-US" sz="1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C450D2C-3190-3B2F-03FF-FE728B4ECAEB}"/>
              </a:ext>
            </a:extLst>
          </p:cNvPr>
          <p:cNvSpPr/>
          <p:nvPr/>
        </p:nvSpPr>
        <p:spPr>
          <a:xfrm>
            <a:off x="9860844" y="2455688"/>
            <a:ext cx="963167" cy="4408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VPU Ch3</a:t>
            </a:r>
            <a:endParaRPr lang="zh-CN" altLang="en-US" sz="1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52D0A8E-089B-0F0B-5AA5-645195A30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40230"/>
            <a:ext cx="5418894" cy="308686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DD65F59-BB9B-88A2-A015-7062798CE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094" y="3561002"/>
            <a:ext cx="4090475" cy="318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88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F37BBC8-8B3E-4C7F-AD48-194D1546E259}"/>
              </a:ext>
            </a:extLst>
          </p:cNvPr>
          <p:cNvSpPr txBox="1"/>
          <p:nvPr/>
        </p:nvSpPr>
        <p:spPr>
          <a:xfrm>
            <a:off x="98190" y="116601"/>
            <a:ext cx="4362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Load mode</a:t>
            </a:r>
            <a:r>
              <a:rPr lang="zh-CN" altLang="en-US" b="1" dirty="0"/>
              <a:t>波形要求（以一个</a:t>
            </a:r>
            <a:r>
              <a:rPr lang="en-US" altLang="zh-CN" b="1" dirty="0" err="1"/>
              <a:t>vpe</a:t>
            </a:r>
            <a:r>
              <a:rPr lang="zh-CN" altLang="en-US" b="1" dirty="0"/>
              <a:t>为例）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D7685CF-4926-7A08-60DE-B78039298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6646"/>
            <a:ext cx="12192000" cy="144661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D310FC2-FD09-2533-717E-4DA0CFE870F6}"/>
              </a:ext>
            </a:extLst>
          </p:cNvPr>
          <p:cNvSpPr txBox="1"/>
          <p:nvPr/>
        </p:nvSpPr>
        <p:spPr>
          <a:xfrm>
            <a:off x="98190" y="2333978"/>
            <a:ext cx="98812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复位状态是</a:t>
            </a:r>
            <a:r>
              <a:rPr lang="en-US" altLang="zh-CN" dirty="0"/>
              <a:t>ACCU</a:t>
            </a:r>
            <a:r>
              <a:rPr lang="zh-CN" altLang="en-US" dirty="0"/>
              <a:t>模式，</a:t>
            </a:r>
            <a:r>
              <a:rPr lang="en-US" altLang="zh-CN" dirty="0" err="1"/>
              <a:t>mode_select</a:t>
            </a:r>
            <a:r>
              <a:rPr lang="zh-CN" altLang="en-US" dirty="0"/>
              <a:t>设为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1cycle</a:t>
            </a:r>
            <a:r>
              <a:rPr lang="zh-CN" altLang="en-US" dirty="0"/>
              <a:t>后进入</a:t>
            </a:r>
            <a:r>
              <a:rPr lang="en-US" altLang="zh-CN" dirty="0"/>
              <a:t>load</a:t>
            </a:r>
            <a:r>
              <a:rPr lang="zh-CN" altLang="en-US" dirty="0"/>
              <a:t>模式，依次送入</a:t>
            </a:r>
            <a:r>
              <a:rPr lang="en-US" altLang="zh-CN" dirty="0"/>
              <a:t>16</a:t>
            </a:r>
            <a:r>
              <a:rPr lang="zh-CN" altLang="en-US" dirty="0"/>
              <a:t>拍</a:t>
            </a:r>
            <a:r>
              <a:rPr lang="en-US" altLang="zh-CN" dirty="0" err="1"/>
              <a:t>psum</a:t>
            </a:r>
            <a:r>
              <a:rPr lang="en-US" altLang="zh-CN" dirty="0"/>
              <a:t> load</a:t>
            </a:r>
          </a:p>
          <a:p>
            <a:pPr marL="342900" indent="-342900">
              <a:buAutoNum type="arabicPeriod"/>
            </a:pPr>
            <a:r>
              <a:rPr lang="zh-CN" altLang="en-US" dirty="0"/>
              <a:t>如果只是要求清空，直接使用</a:t>
            </a:r>
            <a:r>
              <a:rPr lang="en-US" altLang="zh-CN" dirty="0" err="1"/>
              <a:t>psum_clear</a:t>
            </a:r>
            <a:r>
              <a:rPr lang="zh-CN" altLang="en-US" dirty="0"/>
              <a:t>即可</a:t>
            </a:r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05F1BC-E958-7F07-CAD3-74BC163AA86C}"/>
              </a:ext>
            </a:extLst>
          </p:cNvPr>
          <p:cNvSpPr txBox="1"/>
          <p:nvPr/>
        </p:nvSpPr>
        <p:spPr>
          <a:xfrm>
            <a:off x="98190" y="3181022"/>
            <a:ext cx="4523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Output mode</a:t>
            </a:r>
            <a:r>
              <a:rPr lang="zh-CN" altLang="en-US" b="1" dirty="0"/>
              <a:t>波形要求（以一个</a:t>
            </a:r>
            <a:r>
              <a:rPr lang="en-US" altLang="zh-CN" b="1" dirty="0" err="1"/>
              <a:t>vpe</a:t>
            </a:r>
            <a:r>
              <a:rPr lang="zh-CN" altLang="en-US" b="1" dirty="0"/>
              <a:t>为例）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ABD0BE3-2D10-F336-5D39-71088FBEA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52455"/>
            <a:ext cx="12192000" cy="182192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8AE665E-732E-2BCF-F406-3040878A8146}"/>
              </a:ext>
            </a:extLst>
          </p:cNvPr>
          <p:cNvSpPr txBox="1"/>
          <p:nvPr/>
        </p:nvSpPr>
        <p:spPr>
          <a:xfrm>
            <a:off x="98189" y="5623360"/>
            <a:ext cx="95301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参考</a:t>
            </a:r>
            <a:r>
              <a:rPr lang="en-US" altLang="zh-CN" dirty="0"/>
              <a:t>load</a:t>
            </a:r>
            <a:r>
              <a:rPr lang="zh-CN" altLang="en-US" dirty="0"/>
              <a:t>模式设置的方法。进入</a:t>
            </a:r>
            <a:r>
              <a:rPr lang="en-US" altLang="zh-CN" dirty="0"/>
              <a:t>output</a:t>
            </a:r>
            <a:r>
              <a:rPr lang="zh-CN" altLang="en-US" dirty="0"/>
              <a:t>模式后，</a:t>
            </a:r>
            <a:r>
              <a:rPr lang="en-US" altLang="zh-CN" dirty="0" err="1"/>
              <a:t>psum</a:t>
            </a:r>
            <a:r>
              <a:rPr lang="en-US" altLang="zh-CN" dirty="0"/>
              <a:t> cache</a:t>
            </a:r>
            <a:r>
              <a:rPr lang="zh-CN" altLang="en-US" dirty="0"/>
              <a:t>逐拍把</a:t>
            </a:r>
            <a:r>
              <a:rPr lang="en-US" altLang="zh-CN" dirty="0" err="1"/>
              <a:t>psum</a:t>
            </a:r>
            <a:r>
              <a:rPr lang="en-US" altLang="zh-CN" dirty="0"/>
              <a:t> cache</a:t>
            </a:r>
            <a:r>
              <a:rPr lang="zh-CN" altLang="en-US" dirty="0"/>
              <a:t>中数据排出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若干周期后，</a:t>
            </a:r>
            <a:r>
              <a:rPr lang="en-US" altLang="zh-CN" dirty="0" err="1"/>
              <a:t>vpu</a:t>
            </a:r>
            <a:r>
              <a:rPr lang="zh-CN" altLang="en-US" dirty="0"/>
              <a:t>产生输出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71360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313A705-BA06-EEF7-B76B-41D2476F2E04}"/>
              </a:ext>
            </a:extLst>
          </p:cNvPr>
          <p:cNvSpPr txBox="1"/>
          <p:nvPr/>
        </p:nvSpPr>
        <p:spPr>
          <a:xfrm>
            <a:off x="98190" y="116601"/>
            <a:ext cx="4281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Accu mode</a:t>
            </a:r>
            <a:r>
              <a:rPr lang="zh-CN" altLang="en-US" b="1" dirty="0"/>
              <a:t>波形要求（以一个</a:t>
            </a:r>
            <a:r>
              <a:rPr lang="en-US" altLang="zh-CN" b="1" dirty="0" err="1"/>
              <a:t>vpe</a:t>
            </a:r>
            <a:r>
              <a:rPr lang="zh-CN" altLang="en-US" b="1" dirty="0"/>
              <a:t>为例）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4443B76-2D67-AD3A-8C79-7D81EB9E7555}"/>
              </a:ext>
            </a:extLst>
          </p:cNvPr>
          <p:cNvSpPr txBox="1"/>
          <p:nvPr/>
        </p:nvSpPr>
        <p:spPr>
          <a:xfrm>
            <a:off x="98190" y="2333978"/>
            <a:ext cx="95942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dirty="0"/>
              <a:t>LOAD</a:t>
            </a:r>
            <a:r>
              <a:rPr lang="zh-CN" altLang="en-US" dirty="0"/>
              <a:t>模式结束后，自动进入</a:t>
            </a:r>
            <a:r>
              <a:rPr lang="en-US" altLang="zh-CN" dirty="0"/>
              <a:t>Accu</a:t>
            </a:r>
            <a:r>
              <a:rPr lang="zh-CN" altLang="en-US" dirty="0"/>
              <a:t>模式，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自动将</a:t>
            </a:r>
            <a:r>
              <a:rPr lang="en-US" altLang="zh-CN" dirty="0"/>
              <a:t>16</a:t>
            </a:r>
            <a:r>
              <a:rPr lang="zh-CN" altLang="en-US" dirty="0"/>
              <a:t>拍</a:t>
            </a:r>
            <a:r>
              <a:rPr lang="en-US" altLang="zh-CN" dirty="0"/>
              <a:t>SA</a:t>
            </a:r>
            <a:r>
              <a:rPr lang="zh-CN" altLang="en-US" dirty="0"/>
              <a:t>数据依次累加到</a:t>
            </a:r>
            <a:r>
              <a:rPr lang="en-US" altLang="zh-CN" dirty="0"/>
              <a:t>16</a:t>
            </a:r>
            <a:r>
              <a:rPr lang="zh-CN" altLang="en-US" dirty="0"/>
              <a:t>个</a:t>
            </a:r>
            <a:r>
              <a:rPr lang="en-US" altLang="zh-CN" dirty="0"/>
              <a:t>buffer</a:t>
            </a:r>
            <a:r>
              <a:rPr lang="zh-CN" altLang="en-US" dirty="0"/>
              <a:t>上（受</a:t>
            </a:r>
            <a:r>
              <a:rPr lang="en-US" altLang="zh-CN" dirty="0" err="1"/>
              <a:t>sa_output_valid</a:t>
            </a:r>
            <a:r>
              <a:rPr lang="zh-CN" altLang="en-US" dirty="0"/>
              <a:t>控制，不同</a:t>
            </a:r>
            <a:r>
              <a:rPr lang="en-US" altLang="zh-CN" dirty="0"/>
              <a:t>lane</a:t>
            </a:r>
            <a:r>
              <a:rPr lang="zh-CN" altLang="en-US" dirty="0"/>
              <a:t>可以异步）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416F6E5-DBE5-01FC-B441-B72F487F0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183" y="546053"/>
            <a:ext cx="12192000" cy="150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540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1174</TotalTime>
  <Words>276</Words>
  <Application>Microsoft Office PowerPoint</Application>
  <PresentationFormat>宽屏</PresentationFormat>
  <Paragraphs>32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Cascadia Code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JIYONG HU</dc:creator>
  <cp:lastModifiedBy>JIYONG HU</cp:lastModifiedBy>
  <cp:revision>184</cp:revision>
  <dcterms:created xsi:type="dcterms:W3CDTF">2025-11-25T07:14:44Z</dcterms:created>
  <dcterms:modified xsi:type="dcterms:W3CDTF">2025-12-06T02:36:47Z</dcterms:modified>
</cp:coreProperties>
</file>